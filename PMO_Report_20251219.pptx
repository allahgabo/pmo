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PMO Portfolio Status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December 19,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Portfolio Overview (8 Projects)</a:t>
            </a:r>
          </a:p>
          <a:p>
            <a:br/>
            <a:pPr>
              <a:defRPr sz="1800"/>
            </a:pPr>
            <a:r>
              <a:t>✓ On Track: 4 projects (50%)</a:t>
            </a:r>
          </a:p>
          <a:p>
            <a:pPr>
              <a:defRPr sz="1800">
                <a:solidFill>
                  <a:srgbClr val="F59E0B"/>
                </a:solidFill>
              </a:defRPr>
            </a:pPr>
            <a:r>
              <a:t>⚠ At Risk: 1 projects (12%)</a:t>
            </a:r>
          </a:p>
          <a:p>
            <a:pPr>
              <a:defRPr sz="1800">
                <a:solidFill>
                  <a:srgbClr val="EF4444"/>
                </a:solidFill>
              </a:defRPr>
            </a:pPr>
            <a:r>
              <a:t>✗ Delayed: 3 projects (38%)</a:t>
            </a:r>
          </a:p>
          <a:p>
            <a:br/>
            <a:pPr>
              <a:defRPr sz="1800"/>
            </a:pPr>
            <a:r>
              <a:t>💰 Total Budget: $6,900,000</a:t>
            </a:r>
          </a:p>
          <a:p>
            <a:pPr>
              <a:defRPr sz="1800"/>
            </a:pPr>
            <a:r>
              <a:t>💸 Total Spent: $2,335,000 (34%)</a:t>
            </a:r>
          </a:p>
          <a:p>
            <a:br/>
            <a:pPr>
              <a:defRPr sz="1800"/>
            </a:pPr>
            <a:r>
              <a:t>📊 Average Health Score: 62/100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Health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828800" cy="13716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8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Projects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828800"/>
            <a:ext cx="1828800" cy="13716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62.2%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Avg Completion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1828800" cy="13716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0.94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Avg SPI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828800"/>
            <a:ext cx="1828800" cy="13716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0.98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Avg CPI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Status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EF4444"/>
                </a:solidFill>
              </a:defRPr>
            </a:pPr>
            <a:r>
              <a:t>✗ Theta Customer Portal</a:t>
            </a:r>
          </a:p>
          <a:p>
            <a:pPr lvl="1">
              <a:defRPr sz="1400"/>
            </a:pPr>
            <a:r>
              <a:t>   Completion: 48% | Health: 45/100 | SPI: 0.78</a:t>
            </a:r>
          </a:p>
          <a:p>
            <a:pPr>
              <a:defRPr sz="1600" b="1">
                <a:solidFill>
                  <a:srgbClr val="22C55E"/>
                </a:solidFill>
              </a:defRPr>
            </a:pPr>
            <a:r>
              <a:t>✓ Eta Analytics Platform</a:t>
            </a:r>
          </a:p>
          <a:p>
            <a:pPr lvl="1">
              <a:defRPr sz="1400"/>
            </a:pPr>
            <a:r>
              <a:t>   Completion: 90% | Health: 70/100 | SPI: 1.15</a:t>
            </a:r>
          </a:p>
          <a:p>
            <a:pPr>
              <a:defRPr sz="1600" b="1">
                <a:solidFill>
                  <a:srgbClr val="22C55E"/>
                </a:solidFill>
              </a:defRPr>
            </a:pPr>
            <a:r>
              <a:t>✓ Zeta Cloud Migration</a:t>
            </a:r>
          </a:p>
          <a:p>
            <a:pPr lvl="1">
              <a:defRPr sz="1400"/>
            </a:pPr>
            <a:r>
              <a:t>   Completion: 65% | Health: 70/100 | SPI: 0.98</a:t>
            </a:r>
          </a:p>
          <a:p>
            <a:pPr>
              <a:defRPr sz="1600" b="1">
                <a:solidFill>
                  <a:srgbClr val="F59E0B"/>
                </a:solidFill>
              </a:defRPr>
            </a:pPr>
            <a:r>
              <a:t>⚠ Epsilon Security Upgrade</a:t>
            </a:r>
          </a:p>
          <a:p>
            <a:pPr lvl="1">
              <a:defRPr sz="1400"/>
            </a:pPr>
            <a:r>
              <a:t>   Completion: 35% | Health: 75/100 | SPI: 0.82</a:t>
            </a:r>
          </a:p>
          <a:p>
            <a:pPr>
              <a:defRPr sz="1600" b="1">
                <a:solidFill>
                  <a:srgbClr val="22C55E"/>
                </a:solidFill>
              </a:defRPr>
            </a:pPr>
            <a:r>
              <a:t>✓ Delta API Gateway</a:t>
            </a:r>
          </a:p>
          <a:p>
            <a:pPr lvl="1">
              <a:defRPr sz="1400"/>
            </a:pPr>
            <a:r>
              <a:t>   Completion: 85% | Health: 70/100 | SPI: 1.12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🟡 [DW-003] Risk 3 for DW-003</a:t>
            </a:r>
          </a:p>
          <a:p>
            <a:pPr lvl="1">
              <a:defRPr sz="1200"/>
            </a:pPr>
            <a:r>
              <a:t>   Probability: 79% | Impact: 7/10 | Score: 5.53</a:t>
            </a:r>
          </a:p>
          <a:p>
            <a:pPr>
              <a:defRPr sz="1400"/>
            </a:pPr>
            <a:r>
              <a:t>🟡 [CRM-001] Risk 3 for CRM-001</a:t>
            </a:r>
          </a:p>
          <a:p>
            <a:pPr lvl="1">
              <a:defRPr sz="1200"/>
            </a:pPr>
            <a:r>
              <a:t>   Probability: 57% | Impact: 7/10 | Score: 3.99</a:t>
            </a:r>
          </a:p>
          <a:p>
            <a:pPr>
              <a:defRPr sz="1400"/>
            </a:pPr>
            <a:r>
              <a:t>🟡 [CRM-001] Risk 2 for CRM-001</a:t>
            </a:r>
          </a:p>
          <a:p>
            <a:pPr lvl="1">
              <a:defRPr sz="1200"/>
            </a:pPr>
            <a:r>
              <a:t>   Probability: 46% | Impact: 5/10 | Score: 2.30</a:t>
            </a:r>
          </a:p>
          <a:p>
            <a:pPr>
              <a:defRPr sz="1400"/>
            </a:pPr>
            <a:r>
              <a:t>🟡 [API-004] Risk 4 for API-004</a:t>
            </a:r>
          </a:p>
          <a:p>
            <a:pPr lvl="1">
              <a:defRPr sz="1200"/>
            </a:pPr>
            <a:r>
              <a:t>   Probability: 41% | Impact: 9/10 | Score: 3.69</a:t>
            </a:r>
          </a:p>
          <a:p>
            <a:pPr>
              <a:defRPr sz="1400"/>
            </a:pPr>
            <a:r>
              <a:t>🟡 [DW-003] Risk 2 for DW-003</a:t>
            </a:r>
          </a:p>
          <a:p>
            <a:pPr lvl="1">
              <a:defRPr sz="1200"/>
            </a:pPr>
            <a:r>
              <a:t>   Probability: 31% | Impact: 10/10 | Score: 3.10</a:t>
            </a:r>
          </a:p>
          <a:p>
            <a:pPr>
              <a:defRPr sz="1400"/>
            </a:pPr>
            <a:r>
              <a:t>🟢 [ANL-007] Risk 5 for ANL-007</a:t>
            </a:r>
          </a:p>
          <a:p>
            <a:pPr lvl="1">
              <a:defRPr sz="1200"/>
            </a:pPr>
            <a:r>
              <a:t>   Probability: 85% | Impact: 9/10 | Score: 7.65</a:t>
            </a:r>
          </a:p>
          <a:p>
            <a:pPr>
              <a:defRPr sz="1400"/>
            </a:pPr>
            <a:r>
              <a:t>🟢 [MOB-002] Risk 1 for MOB-002</a:t>
            </a:r>
          </a:p>
          <a:p>
            <a:pPr lvl="1">
              <a:defRPr sz="1200"/>
            </a:pPr>
            <a:r>
              <a:t>   Probability: 77% | Impact: 9/10 | Score: 6.93</a:t>
            </a:r>
          </a:p>
          <a:p>
            <a:pPr>
              <a:defRPr sz="1400"/>
            </a:pPr>
            <a:r>
              <a:t>🟢 [DW-003] Risk 1 for DW-003</a:t>
            </a:r>
          </a:p>
          <a:p>
            <a:pPr lvl="1">
              <a:defRPr sz="1200"/>
            </a:pPr>
            <a:r>
              <a:t>   Probability: 67% | Impact: 6/10 | Score: 4.02</a:t>
            </a:r>
          </a:p>
          <a:p>
            <a:pPr>
              <a:defRPr sz="1400"/>
            </a:pPr>
            <a:r>
              <a:t>🟢 [CRM-001] Risk 1 for CRM-001</a:t>
            </a:r>
          </a:p>
          <a:p>
            <a:pPr lvl="1">
              <a:defRPr sz="1200"/>
            </a:pPr>
            <a:r>
              <a:t>   Probability: 56% | Impact: 5/10 | Score: 2.80</a:t>
            </a:r>
          </a:p>
          <a:p>
            <a:pPr>
              <a:defRPr sz="1400"/>
            </a:pPr>
            <a:r>
              <a:t>🟢 [CLD-006] Risk 1 for CLD-006</a:t>
            </a:r>
          </a:p>
          <a:p>
            <a:pPr lvl="1">
              <a:defRPr sz="1200"/>
            </a:pPr>
            <a:r>
              <a:t>   Probability: 52% | Impact: 10/10 | Score: 5.20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22C55E"/>
                </a:solidFill>
              </a:defRPr>
            </a:pPr>
            <a:r>
              <a:t>✓ Theta Customer Portal</a:t>
            </a:r>
          </a:p>
          <a:p>
            <a:pPr lvl="1">
              <a:defRPr sz="1200"/>
            </a:pPr>
            <a:r>
              <a:t>   Budget: $450,000 | Spent: $310,000 (68.9%)</a:t>
            </a:r>
          </a:p>
          <a:p>
            <a:pPr>
              <a:defRPr sz="1400" b="1">
                <a:solidFill>
                  <a:srgbClr val="22C55E"/>
                </a:solidFill>
              </a:defRPr>
            </a:pPr>
            <a:r>
              <a:t>✓ Eta Analytics Platform</a:t>
            </a:r>
          </a:p>
          <a:p>
            <a:pPr lvl="1">
              <a:defRPr sz="1200"/>
            </a:pPr>
            <a:r>
              <a:t>   Budget: $300,000 | Spent: $260,000 (86.7%)</a:t>
            </a:r>
          </a:p>
          <a:p>
            <a:pPr>
              <a:defRPr sz="1400" b="1">
                <a:solidFill>
                  <a:srgbClr val="22C55E"/>
                </a:solidFill>
              </a:defRPr>
            </a:pPr>
            <a:r>
              <a:t>✓ Zeta Cloud Migration</a:t>
            </a:r>
          </a:p>
          <a:p>
            <a:pPr lvl="1">
              <a:defRPr sz="1200"/>
            </a:pPr>
            <a:r>
              <a:t>   Budget: $600,000 | Spent: $380,000 (63.3%)</a:t>
            </a:r>
          </a:p>
          <a:p>
            <a:pPr>
              <a:defRPr sz="1400" b="1">
                <a:solidFill>
                  <a:srgbClr val="22C55E"/>
                </a:solidFill>
              </a:defRPr>
            </a:pPr>
            <a:r>
              <a:t>✓ Epsilon Security Upgrade</a:t>
            </a:r>
          </a:p>
          <a:p>
            <a:pPr lvl="1">
              <a:defRPr sz="1200"/>
            </a:pPr>
            <a:r>
              <a:t>   Budget: $400,000 | Spent: $180,000 (45.0%)</a:t>
            </a:r>
          </a:p>
          <a:p>
            <a:pPr>
              <a:defRPr sz="1400" b="1">
                <a:solidFill>
                  <a:srgbClr val="22C55E"/>
                </a:solidFill>
              </a:defRPr>
            </a:pPr>
            <a:r>
              <a:t>✓ Delta API Gateway</a:t>
            </a:r>
          </a:p>
          <a:p>
            <a:pPr lvl="1">
              <a:defRPr sz="1200"/>
            </a:pPr>
            <a:r>
              <a:t>   Budget: $200,000 | Spent: $155,000 (77.5%)</a:t>
            </a:r>
          </a:p>
          <a:p>
            <a:pPr>
              <a:defRPr sz="1400" b="1">
                <a:solidFill>
                  <a:srgbClr val="22C55E"/>
                </a:solidFill>
              </a:defRPr>
            </a:pPr>
            <a:r>
              <a:t>✓ Gamma Data Warehouse</a:t>
            </a:r>
          </a:p>
          <a:p>
            <a:pPr lvl="1">
              <a:defRPr sz="1200"/>
            </a:pPr>
            <a:r>
              <a:t>   Budget: $750,000 | Spent: $480,000 (64.0%)</a:t>
            </a:r>
          </a:p>
          <a:p>
            <a:pPr>
              <a:defRPr sz="1400" b="1">
                <a:solidFill>
                  <a:srgbClr val="22C55E"/>
                </a:solidFill>
              </a:defRPr>
            </a:pPr>
            <a:r>
              <a:t>✓ Data Platform Upgrade</a:t>
            </a:r>
          </a:p>
          <a:p>
            <a:pPr lvl="1">
              <a:defRPr sz="1200"/>
            </a:pPr>
            <a:r>
              <a:t>   Budget: $3,000,000 | Spent: $250,000 (8.3%)</a:t>
            </a:r>
          </a:p>
          <a:p>
            <a:pPr>
              <a:defRPr sz="1400" b="1">
                <a:solidFill>
                  <a:srgbClr val="22C55E"/>
                </a:solidFill>
              </a:defRPr>
            </a:pPr>
            <a:r>
              <a:t>✓ CRM Implementation</a:t>
            </a:r>
          </a:p>
          <a:p>
            <a:pPr lvl="1">
              <a:defRPr sz="1200"/>
            </a:pPr>
            <a:r>
              <a:t>   Budget: $1,200,000 | Spent: $320,000 (26.7%)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1800"/>
            </a:pPr>
            <a:r>
              <a:t>• 4 projects require immediate attention</a:t>
            </a:r>
          </a:p>
          <a:p>
            <a:pPr>
              <a:spcAft>
                <a:spcPts val="1200"/>
              </a:spcAft>
              <a:defRPr sz="1800"/>
            </a:pPr>
            <a:r>
              <a:t>• 4 projects are behind schedule - consider resource reallocation</a:t>
            </a:r>
          </a:p>
          <a:p>
            <a:pPr>
              <a:spcAft>
                <a:spcPts val="1200"/>
              </a:spcAft>
              <a:defRPr sz="1800"/>
            </a:pPr>
            <a:r>
              <a:t>• 4 high/critical risks need mitigation plans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